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502920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PAZAR · WEB · SOSYAL MEDYA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1920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Rakip görünürlüğünden
Çalışan Yapı’nın fırsat alanına.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37560"/>
            <a:ext cx="621792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0">
                <a:solidFill>
                  <a:srgbClr val="BEC8C7"/>
                </a:solidFill>
                <a:latin typeface="Aptos"/>
              </a:rPr>
              <a:t>İstanbul yapı, cam sistemleri ve sineklik pazarı
Kaynaklı masa başı araştırması · 10 Ağustos 2026</a:t>
            </a:r>
          </a:p>
        </p:txBody>
      </p:sp>
      <p:pic>
        <p:nvPicPr>
          <p:cNvPr id="5" name="Picture 4" descr="crop-calisan-yapi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ARAŞTIRMA ÇERÇEVESI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Neyi taradık, neyi doğruladık?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40156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54864" cy="324612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606040"/>
            <a:ext cx="3017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WEB /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39"/>
            <a:ext cx="3017520" cy="2459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Exa ile hizmet bazlı arama; Jina ile resmi sitelerin navigasyon, ürün, güven, teklif ve galeri yapılarının okunması.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423160"/>
            <a:ext cx="340156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423160"/>
            <a:ext cx="54864" cy="3246120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606040"/>
            <a:ext cx="3017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SOSYAL / VİDEO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063239"/>
            <a:ext cx="3017520" cy="2459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Resmi sosyal profil bağlantıları ve YouTube arama sonuçları. Instagram akışı OpenCLI eklentisi bağlı olmadığı için doğrudan okunamadı.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423160"/>
            <a:ext cx="340156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54864" cy="324612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606040"/>
            <a:ext cx="3017520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GÖRSEL / ETİK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063239"/>
            <a:ext cx="3017520" cy="2459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Rakip görselleri yalnız analiz referansıdır. Site veya reklamda yeniden kullanmayın; aynı kullanım senaryolarını kendi projelerinizle çekin.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46520"/>
            <a:ext cx="5029200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650" b="0">
                <a:solidFill>
                  <a:srgbClr val="5B696A"/>
                </a:solidFill>
                <a:latin typeface="Aptos"/>
              </a:rPr>
              <a:t>Agent Reach: Exa + Jina Reader + yt-dlp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RAKIP HARITASI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Takip edilmesi gereken 9 marka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514600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Albert Genau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71800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Ulusal sistem evi · Teknik güven + ürün seçici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331720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331720"/>
            <a:ext cx="54864" cy="941832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514600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Royal Glass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971800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Üretici / bayi · Ürün ailesi + süreç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331720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2331720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514600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Usta Cam Balkon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71800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İstanbul uygulamacısı · Hız, taksit, garanti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93008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93008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75887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İpek Yapı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33087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İstanbul uygulamacısı · Müşteri itirazı + referans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493008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493008"/>
            <a:ext cx="54864" cy="941832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675887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Plisseri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33087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Sineklik üreticisi · AR-GE + ihracat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493008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493008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675887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EM-SA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133087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Sineklik uygulamacısı · Model çeşitliliği + yerel SEO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54296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654296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837176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Ricco Yapı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294376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Premium dış mekân · Mimari yaşam dili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654296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654296"/>
            <a:ext cx="54864" cy="941832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4837176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Winter Garden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5294376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Premium kategori markası · İlçe/use-case segmentasyonu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4654296"/>
            <a:ext cx="33832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19" y="4654296"/>
            <a:ext cx="54864" cy="941832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4837176"/>
            <a:ext cx="299923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Ehil Yapı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5294376"/>
            <a:ext cx="2999232" cy="1554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Geniş hizmet uygulamacısı · Gerçek proje hikâyeleri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Kim hangi alanda güçlü?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331720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Marka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2331720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04872"/>
            <a:ext cx="233172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Marka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7" y="2331720"/>
            <a:ext cx="1572768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Teknik içerik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0087" y="2331720"/>
            <a:ext cx="1572768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7" y="2404872"/>
            <a:ext cx="15727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Teknik içerik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2331720"/>
            <a:ext cx="1572768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Gerçek proje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2855" y="2331720"/>
            <a:ext cx="1572768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5" y="2404872"/>
            <a:ext cx="15727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Gerçek proje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331720"/>
            <a:ext cx="1572768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Dönüşüm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2331720"/>
            <a:ext cx="1572768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5624" y="2404872"/>
            <a:ext cx="15727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Dönüşüm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331720"/>
            <a:ext cx="1572768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Yerel SEO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2331720"/>
            <a:ext cx="1572768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2404872"/>
            <a:ext cx="15727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Yerel SEO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331720"/>
            <a:ext cx="1572768" cy="3931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Sosyal 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331720"/>
            <a:ext cx="1572768" cy="438912"/>
          </a:xfrm>
          <a:prstGeom prst="rect">
            <a:avLst/>
          </a:prstGeom>
          <a:solidFill>
            <a:srgbClr val="141F22"/>
          </a:solidFill>
          <a:ln>
            <a:solidFill>
              <a:srgbClr val="EFE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404872"/>
            <a:ext cx="1572768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Sosyal video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770632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843784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Albert Genau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90087" y="2770632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7" y="284378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2855" y="2770632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5" y="284378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35624" y="2770632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284378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08392" y="2770632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8392" y="284378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770632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284378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09544"/>
            <a:ext cx="2331720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82696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Royal Glass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90087" y="3209544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0087" y="328269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855" y="3209544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62855" y="328269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5624" y="3209544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5624" y="328269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08392" y="3209544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08392" y="328269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209544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328269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3648456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3721607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Usta Cam Balkon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90087" y="3648456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7" y="3721607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62855" y="3648456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62855" y="3721607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35624" y="3648456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5624" y="3721607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08392" y="3648456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08392" y="3721607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3648456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81160" y="3721607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4087368"/>
            <a:ext cx="2331720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4160520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İpek Yapı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90087" y="4087368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0087" y="4160520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62855" y="4087368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62855" y="4160520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35624" y="4087368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35624" y="4160520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8392" y="4087368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08392" y="4160520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81160" y="4087368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4160520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8368" y="4526279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8368" y="4599431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Plisseri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0087" y="4526279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0087" y="4599431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62855" y="4526279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62855" y="4599431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35624" y="4526279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35624" y="4599431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08392" y="4526279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08392" y="4599431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81160" y="4526279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81160" y="4599431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" y="4965192"/>
            <a:ext cx="2331720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" y="5038344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EM-SA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90087" y="4965192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90087" y="503834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62855" y="4965192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62855" y="503834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35624" y="4965192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35624" y="503834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08392" y="4965192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08392" y="503834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81160" y="4965192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81160" y="5038344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" y="5404104"/>
            <a:ext cx="2331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477256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Ricco / Winter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90087" y="5404104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90087" y="547725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62855" y="5404104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62855" y="547725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35624" y="5404104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5624" y="547725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708392" y="5404104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08392" y="547725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281160" y="5404104"/>
            <a:ext cx="1572768" cy="438912"/>
          </a:xfrm>
          <a:prstGeom prst="rect">
            <a:avLst/>
          </a:prstGeom>
          <a:solidFill>
            <a:srgbClr val="FFFFFF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81160" y="5477256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" y="5843016"/>
            <a:ext cx="2331720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8368" y="5916168"/>
            <a:ext cx="2331720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0">
                <a:solidFill>
                  <a:srgbClr val="141F22"/>
                </a:solidFill>
                <a:latin typeface="Aptos"/>
              </a:rPr>
              <a:t>Ehil Yapı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990087" y="5843016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990087" y="5916168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62855" y="5843016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62855" y="5916168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1BABA0"/>
                </a:solidFill>
                <a:latin typeface="Aptos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35624" y="5843016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35624" y="5916168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08392" y="5843016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708392" y="5916168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D8A02D"/>
                </a:solidFill>
                <a:latin typeface="Aptos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81160" y="5843016"/>
            <a:ext cx="1572768" cy="438912"/>
          </a:xfrm>
          <a:prstGeom prst="rect">
            <a:avLst/>
          </a:prstGeom>
          <a:solidFill>
            <a:srgbClr val="E8E5DA"/>
          </a:solidFill>
          <a:ln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281160" y="5916168"/>
            <a:ext cx="1572768" cy="25603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900" b="1">
                <a:solidFill>
                  <a:srgbClr val="5B696A"/>
                </a:solidFill>
                <a:latin typeface="Aptos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6080760"/>
            <a:ext cx="914400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5B696A"/>
                </a:solidFill>
                <a:latin typeface="Aptos"/>
              </a:rPr>
              <a:t>Puanlar göreli masa başı değerlendirmedir (1 zayıf · 5 güçlü); trafik veya gelir tahmini değildir.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GÖRSEL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Gerçek uygulama sunumunda öne çıkan yaklaşım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-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401568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919472"/>
            <a:ext cx="33832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Royal Glass · giyotin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85232"/>
            <a:ext cx="3383280" cy="21031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5B696A"/>
                </a:solidFill>
                <a:latin typeface="Aptos"/>
              </a:rPr>
              <a:t>royalglass.com.tr</a:t>
            </a:r>
          </a:p>
        </p:txBody>
      </p:sp>
      <p:pic>
        <p:nvPicPr>
          <p:cNvPr id="8" name="Picture 7" descr="crop-ip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331720"/>
            <a:ext cx="3401568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70832" y="4919472"/>
            <a:ext cx="33832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İpek Yapı · kış bahçesi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285232"/>
            <a:ext cx="3383280" cy="21031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5B696A"/>
                </a:solidFill>
                <a:latin typeface="Aptos"/>
              </a:rPr>
              <a:t>ipekyapi.com</a:t>
            </a:r>
          </a:p>
        </p:txBody>
      </p:sp>
      <p:pic>
        <p:nvPicPr>
          <p:cNvPr id="11" name="Picture 10" descr="crop-u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3" y="2331720"/>
            <a:ext cx="3401568" cy="2468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01583" y="4919472"/>
            <a:ext cx="338328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Usta · balkon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3" y="5285232"/>
            <a:ext cx="3383280" cy="21031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800" b="0">
                <a:solidFill>
                  <a:srgbClr val="5B696A"/>
                </a:solidFill>
                <a:latin typeface="Aptos"/>
              </a:rPr>
              <a:t>ustacambalkon.com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79008"/>
            <a:ext cx="1069848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BABA0"/>
                </a:solidFill>
                <a:latin typeface="Aptos"/>
              </a:rPr>
              <a:t>Ortak desen: geniş açı yaşam sahnesi + sistemin çalışmasını gösteren yakın plan + montaj/öncesi-sonrası kanıtı.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5029200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650" b="0">
                <a:solidFill>
                  <a:srgbClr val="5B696A"/>
                </a:solidFill>
                <a:latin typeface="Aptos"/>
              </a:rPr>
              <a:t>Görseller yalnız analiz referansıdır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KATEGORI FARKI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Sineklik ve premium dış mekân iki ayrı dil istiyor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-em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166360" cy="2468880"/>
          </a:xfrm>
          <a:prstGeom prst="rect">
            <a:avLst/>
          </a:prstGeom>
        </p:spPr>
      </p:pic>
      <p:pic>
        <p:nvPicPr>
          <p:cNvPr id="6" name="Picture 5" descr="crop-wi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31720"/>
            <a:ext cx="534924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956048"/>
            <a:ext cx="18288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1BABA0"/>
                </a:solidFill>
                <a:latin typeface="Aptos"/>
              </a:rPr>
              <a:t>SİNEKLİK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21808"/>
            <a:ext cx="5074920" cy="6217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41F22"/>
                </a:solidFill>
                <a:latin typeface="Aptos"/>
              </a:rPr>
              <a:t>Ürün tipi, kullanım biçimi, evcil hayvan dayanımı, kolay temizlik ve ölçü netliği.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4956048"/>
            <a:ext cx="2743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D8A02D"/>
                </a:solidFill>
                <a:latin typeface="Aptos"/>
              </a:rPr>
              <a:t>PERGOLA / KIŞ BAHÇESİ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5321808"/>
            <a:ext cx="5074920" cy="62179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0">
                <a:solidFill>
                  <a:srgbClr val="141F22"/>
                </a:solidFill>
                <a:latin typeface="Aptos"/>
              </a:rPr>
              <a:t>Mimari atmosfer, dört mevsim yaşam, ışık, manzara ve yatırım değeri.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6446520"/>
            <a:ext cx="5029200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650" b="0">
                <a:solidFill>
                  <a:srgbClr val="5B696A"/>
                </a:solidFill>
                <a:latin typeface="Aptos"/>
              </a:rPr>
              <a:t>emsasineklik.com · wintergarden.com.tr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WEB YAPISI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Kazandıran sayfa iskeleti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457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2331720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Sorunu göster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86000"/>
            <a:ext cx="7498079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Yağmur, rüzgâr, böcek, kullanılmayan balkon veya güvenlik ihtiyacı.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35808"/>
            <a:ext cx="457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35808"/>
            <a:ext cx="2331720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Sistemi anlaşılır anlat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35808"/>
            <a:ext cx="7498079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Teknik adı ikinci sıraya al; “yana katlanır”, “yukarı sarılır”, “dikey motorlu” 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457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85615"/>
            <a:ext cx="2331720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Kanıtla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85615"/>
            <a:ext cx="7498079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Gerçek proje, ilçe, tarih, malzeme, süre, önce/sonra ve müşteri yorumu.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35424"/>
            <a:ext cx="457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35424"/>
            <a:ext cx="2331720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Riski azalt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535424"/>
            <a:ext cx="7498079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Garanti, keşif, ölçü doğrulama, montaj süreci, bakım ve ödeme açıklaması.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85231"/>
            <a:ext cx="457200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85231"/>
            <a:ext cx="2331720" cy="3017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Tek adım 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1"/>
            <a:ext cx="7498079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Hizmet + ilçe + fotoğraf; sonra telefon. Mevcut formunuz buna çok yakın.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SOSYAL IÇERIK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Rakibin erişimini aşacak 6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4864" cy="96012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10–15 sn mekanizma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26080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Tek hareketi yakın planda göster: aç, kapat, kilitle, temizle.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86000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286000"/>
            <a:ext cx="54864" cy="960120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468880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Önce / sonra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926080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Aynı kamera açısından boş alan → tamamlanmış yaşam alanı.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93008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93008"/>
            <a:ext cx="54864" cy="96012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75888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Usta anlatıyor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133088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Gerçek montajcı 20 saniyede bir kritik ayrıntıyı anlatsın.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493008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493008"/>
            <a:ext cx="54864" cy="960120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75888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Yanlış seçim testi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133088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Kapıya pencere modeli neden olmaz? Kedi olan evde hangi tül?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00016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00016"/>
            <a:ext cx="54864" cy="96012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882896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İlçe proje günlüğü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340096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“Beylikdüzü’nde 1 günde plise kapı uygulaması” gibi doğrulanabilir yerellik.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700016"/>
            <a:ext cx="51663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700016"/>
            <a:ext cx="54864" cy="960120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882896"/>
            <a:ext cx="47823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Müşteri sonrası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340096"/>
            <a:ext cx="4782312" cy="17373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30 gün sonra kullanım, temizlik ve memnuniyet görüntüsü.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6446520"/>
            <a:ext cx="5029200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650" b="0">
                <a:solidFill>
                  <a:srgbClr val="5B696A"/>
                </a:solidFill>
                <a:latin typeface="Aptos"/>
              </a:rPr>
              <a:t>YouTube doğrulaması: ürün-demonstrasyon formatı öne çıkıyor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YOUTUBE SINYALI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Kısa ürün gösterimi, marka filminden daha verimli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874519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BABA0"/>
                </a:solidFill>
                <a:latin typeface="Aptos Display"/>
              </a:rPr>
              <a:t>235.854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377439"/>
            <a:ext cx="29260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Uzaktan kumandalı cam balkon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770632"/>
            <a:ext cx="29260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0">
                <a:solidFill>
                  <a:srgbClr val="5B696A"/>
                </a:solidFill>
                <a:latin typeface="Aptos"/>
              </a:rPr>
              <a:t>Albert Genau · 87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331720"/>
            <a:ext cx="1874519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BABA0"/>
                </a:solidFill>
                <a:latin typeface="Aptos Display"/>
              </a:rPr>
              <a:t>147.113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77439"/>
            <a:ext cx="29260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İspanyolet kilit mekanizması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70632"/>
            <a:ext cx="29260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0">
                <a:solidFill>
                  <a:srgbClr val="5B696A"/>
                </a:solidFill>
                <a:latin typeface="Aptos"/>
              </a:rPr>
              <a:t>Albert Genau · 10 sn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79"/>
            <a:ext cx="1874519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BABA0"/>
                </a:solidFill>
                <a:latin typeface="Aptos Display"/>
              </a:rPr>
              <a:t>10.573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886199"/>
            <a:ext cx="29260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Isıcamlı sistem ses yalıtımı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279392"/>
            <a:ext cx="29260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0">
                <a:solidFill>
                  <a:srgbClr val="5B696A"/>
                </a:solidFill>
                <a:latin typeface="Aptos"/>
              </a:rPr>
              <a:t>Albert Genau · 16 sn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840479"/>
            <a:ext cx="1874519" cy="53035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700" b="1">
                <a:solidFill>
                  <a:srgbClr val="1BABA0"/>
                </a:solidFill>
                <a:latin typeface="Aptos Display"/>
              </a:rPr>
              <a:t>3.949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86199"/>
            <a:ext cx="29260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Plisseri tanıtım filmi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79392"/>
            <a:ext cx="2926080" cy="2286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0">
                <a:solidFill>
                  <a:srgbClr val="5B696A"/>
                </a:solidFill>
                <a:latin typeface="Aptos"/>
              </a:rPr>
              <a:t>Plisseri · 122 sn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23560"/>
            <a:ext cx="1051560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300" b="1">
                <a:solidFill>
                  <a:srgbClr val="141F22"/>
                </a:solidFill>
                <a:latin typeface="Aptos"/>
              </a:rPr>
              <a:t>Çıkarım: erişim için “tek fayda + tek hareket + yakın plan” kurgusu; satış için videodan doğrudan ilgili hizmet/ilçe teklif sayfasına geçiş.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6446520"/>
            <a:ext cx="5029200" cy="24688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650" b="0">
                <a:solidFill>
                  <a:srgbClr val="5B696A"/>
                </a:solidFill>
                <a:latin typeface="Aptos"/>
              </a:rPr>
              <a:t>Kaynak: yt-dlp ile 10.08.2026 tarihli arama görünümü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ÇALIŞAN YAPI FIRSATI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Rakipleri kopyalamadan daha iyi bir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Her hizmette 8–12 özgün gerçek proje; geniş açı, detay, kullanım ve montaj kareleri.</a:t>
            </a:r>
          </a:p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Teknik ürün adı + halkın anlayacağı kullanım adı birlikte: “Plise · yana katlanır sineklik”.</a:t>
            </a:r>
          </a:p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Her proje sayfasında ilçe, ihtiyaç, çözüm, kullanılan sistem, süre ve doğrulanmış sonuç.</a:t>
            </a:r>
          </a:p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Hizmet seçilince doğru örneklerin açıldığı mevcut carousel’i bütün 8 hizmette eksiksiz doldurma.</a:t>
            </a:r>
          </a:p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Teklif formunu reklam kaynağı, kreatif, hizmet, ilçe ve satış sonucu ile uçtan uca bağlama.</a:t>
            </a:r>
          </a:p>
          <a:p>
            <a:pPr>
              <a:spcAft>
                <a:spcPts val="1000"/>
              </a:spcAft>
              <a:defRPr sz="1600">
                <a:solidFill>
                  <a:srgbClr val="141F22"/>
                </a:solidFill>
                <a:latin typeface="Aptos"/>
              </a:defRPr>
            </a:pPr>
            <a:r>
              <a:t>•  Yalnız gerçek proje geldikçe hizmet–ilçe sayfalarını index’e açma; kopya yerel sayfa üretmeme.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ÇEKIM STANDARDI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Her işten minimum 12 içerik çıkar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2331720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Dış cephe geniş açı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4255" y="2331720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7" y="2331720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İç mekân geniş açı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2331720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331720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Açık / kapalı iki durum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0672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090672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Profil ve ray detayı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3090672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3090672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Kilit / kol kullanımı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3090672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090672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Su tahliye detayı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9624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849624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Ustanın montaj 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5" y="3849624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7" y="3849624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Önce / sonra aynı açı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3849624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3849624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Dikey 9:16 mekanizma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08575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608575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Müşteri kullanım anı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4608575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4608575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Renk / malzeme yakın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4608575"/>
            <a:ext cx="438912" cy="2743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1">
                <a:solidFill>
                  <a:srgbClr val="1BABA0"/>
                </a:solidFill>
                <a:latin typeface="Aptos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608575"/>
            <a:ext cx="288036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141F22"/>
                </a:solidFill>
                <a:latin typeface="Aptos"/>
              </a:rPr>
              <a:t>Proje tabelası: ilçe + sistem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60704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200" b="1">
                <a:solidFill>
                  <a:srgbClr val="D8A02D"/>
                </a:solidFill>
                <a:latin typeface="Aptos"/>
              </a:rPr>
              <a:t>Çıktılar: web hero 16:9 · carousel 4:3 · Instagram 4:5 · Reels 9:16 · detay kırpımı 1:1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90 GÜNLÜK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Araştırmayı büyümeye çevirme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423160"/>
            <a:ext cx="333756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423160"/>
            <a:ext cx="54864" cy="265176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606040"/>
            <a:ext cx="29535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0–30 gün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063239"/>
            <a:ext cx="2953512" cy="186537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10 gerçek proje çekimi
8 hizmet carousel’i
Meta/GA4 olay doğrulama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5" y="2423160"/>
            <a:ext cx="333756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5" y="2423160"/>
            <a:ext cx="54864" cy="2651760"/>
          </a:xfrm>
          <a:prstGeom prst="rect">
            <a:avLst/>
          </a:prstGeom>
          <a:solidFill>
            <a:srgbClr val="1BA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3" y="2606040"/>
            <a:ext cx="29535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31–60 gün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3" y="3063239"/>
            <a:ext cx="2953512" cy="186537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Haftada 3 Reels
4 proje vaka sayfası
İlk 5 hizmet–ilçe sayfası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2423160"/>
            <a:ext cx="333756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CDCA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2423160"/>
            <a:ext cx="54864" cy="2651760"/>
          </a:xfrm>
          <a:prstGeom prst="rect">
            <a:avLst/>
          </a:prstGeom>
          <a:solidFill>
            <a:srgbClr val="D8A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606040"/>
            <a:ext cx="2953512" cy="347472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61–90 gün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063239"/>
            <a:ext cx="2953512" cy="186537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000" b="0">
                <a:solidFill>
                  <a:srgbClr val="5B696A"/>
                </a:solidFill>
                <a:latin typeface="Aptos"/>
              </a:rPr>
              <a:t>Kreatif A/B testleri
Kazanan ilçe/hizmete bütçe
CRM satış sonucu geri besleme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69848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400" b="1">
                <a:solidFill>
                  <a:srgbClr val="141F22"/>
                </a:solidFill>
                <a:latin typeface="Aptos"/>
              </a:rPr>
              <a:t>Öncelik: daha fazla sayfa değil, daha fazla doğrulanmış proje kanıtı + daha iyi dönüşüm ölçümü.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57200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 b="1">
                <a:solidFill>
                  <a:srgbClr val="1BABA0"/>
                </a:solidFill>
                <a:latin typeface="Aptos"/>
              </a:rPr>
              <a:t>KAYNAKÇA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78992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3100" b="1">
                <a:solidFill>
                  <a:srgbClr val="141F22"/>
                </a:solidFill>
                <a:latin typeface="Aptos Display"/>
              </a:rPr>
              <a:t>Doğrulanan ana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10515600" cy="5029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0">
                <a:solidFill>
                  <a:srgbClr val="5B696A"/>
                </a:solidFill>
                <a:latin typeface="Aptos"/>
              </a:rPr>
              <a:t>Bağlantılar 10 Ağustos 2026 tarihinde herkese açık olarak incelendi.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21408"/>
            <a:ext cx="10881360" cy="22860"/>
          </a:xfrm>
          <a:prstGeom prst="rect">
            <a:avLst/>
          </a:prstGeom>
          <a:solidFill>
            <a:srgbClr val="C6C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423160"/>
            <a:ext cx="10515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albertgenau.com/tr · instagram.com/albert.genau · youtube.com/@ALBERTGENAU</a:t>
            </a:r>
          </a:p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royalglass.com.tr · instagram.com/royalglasscomtr</a:t>
            </a:r>
          </a:p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ustacambalkon.com · instagram.com/ustacambalkon · youtube.com/@ustacambalkon</a:t>
            </a:r>
          </a:p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ipekyapi.com · plisseri.com · emsasineklik.com</a:t>
            </a:r>
          </a:p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riccoyapi.com · wintergarden.com.tr · ehilyapi.com</a:t>
            </a:r>
          </a:p>
          <a:p>
            <a:pPr>
              <a:spcAft>
                <a:spcPts val="1000"/>
              </a:spcAft>
              <a:defRPr sz="1400">
                <a:solidFill>
                  <a:srgbClr val="141F22"/>
                </a:solidFill>
                <a:latin typeface="Aptos"/>
              </a:defRPr>
            </a:pPr>
            <a:r>
              <a:t>•  Agent Reach: Exa web search, Jina Reader, yt-dlp YouTube araması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577840"/>
            <a:ext cx="10515600" cy="5486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1100" b="1">
                <a:solidFill>
                  <a:srgbClr val="D8A02D"/>
                </a:solidFill>
                <a:latin typeface="Aptos"/>
              </a:rPr>
              <a:t>Kısıt: Instagram/Facebook OpenCLI tarayıcı eklentisi bağlı olmadığından gönderi ve etkileşim sayıları doğrudan doğrulanmadı; sunumda nicel sosyal sıralama yapılmadı.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4572000" cy="182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700" b="1">
                <a:solidFill>
                  <a:srgbClr val="5B696A"/>
                </a:solidFill>
                <a:latin typeface="Aptos"/>
              </a:rPr>
              <a:t>ÇALIŞAN YAPI · RAKİP ARAŞTIRMASI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46520"/>
            <a:ext cx="50292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r"/>
            <a:r>
              <a:rPr sz="900" b="1">
                <a:solidFill>
                  <a:srgbClr val="1BABA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